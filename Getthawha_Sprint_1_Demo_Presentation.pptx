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สวัสดีครับอาจารย์และคณะกรรมการ วันนี้ทีมเราขอพรีเซนต์ Getthawha Omnichannel Platform สำหรับธุรกิจนวดและสปาล้านนา 5 สาขาในเชียงใหม่ ใน Sprint 1 นี้ เราวางรากฐานระบบจองดิจิทัล 4 ภาษา และระบบปฏิทินกลางสำหรับพนักงานเพื่อแก้ปัญหาการจองซ้อนและลดภาระหน้าร้านครับ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ในกระบวนการทำงานแบบ Agile เราแบ่งหน้าที่กันอย่างชัดเจนตามตาราง RACI โดยใช้ Notion Project Hub ในการติดตาม User Stories ทั้ง 18 งาน ใน Sprint 1 ทีมเราสามารถทำตามเป้าหมายของ Core Foundation ได้ครบถ้วน ทั้งงานฐานข้อมูล, API Backend, หน้าบ้านลูกค้า และปฏิทินฝั่งแอดมินครับ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ด้านสถาปัตยกรรมระบบ เราออกแบบเป็น 4 Microservices แยกอิสระผ่าน Docker Compose โดยแยก Client Web ที่เน้น SEO และ Mobile Performance ออกจาก Admin Portal เพื่อความปลอดภัย และเชื่อมต่อกับ Express 5 Backend ที่ทำงานบน Bun Runtime ซึ่งให้ความเร็วสูง และมี PostgreSQL คอยการันตีความถูกต้องของธุรกรรมการจองครับ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จากการวิเคราะห์กลุ่มลูกค้าสปาในเชียงใหม่ เราใช้ Figma ออกแบบโดยเน้นเอกลักษณ์ศิลปะล้านนาร่วมสมัย ใช้โทนสีน้ำตาลไม้สักและทองคำ และเมื่อแปลงเป็นโค้ด Next.js เราเก็บรายละเอียดตรงตาม Mockup 100% ทั้งเรื่องระยะขอบ, การแสดงผลภาษาต่างประเทศ และการใช้งานบนมือถือครับ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ในฝั่งลูกค้า เราพัฒนา Booking Wizard ที่ใช้งานง่ายมากครับ ฟีเจอร์เด่นคือ Dynamic Duration Toggler 60, 90, 120 นาที ที่เปลี่ยนราคาและคำนวณส่วนลดทันที และระบบ Geolocation ที่ใช้สูตร Haversine คำนวณระยะทางจริงเพื่อแนะนำสาขาที่ใกล้ลูกค้านักท่องเที่ยวที่สุด ทำให้การจองเสร็จสิ้นได้ในเวลาไม่ถึง 2 นาทีครับ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สำหรับพนักงานหน้าร้าน เราสร้าง Admin Portal แยกออกมาที่พอร์ต 3001 จุดเด่นคือ Master Booking Calendar ที่ทำให้ฟร้อนท์เห็นภาพรวมทั้งเดือนและรายวัน มีฟังก์ชัน Walk-in Modal ไว้รับลูกค้าหน้าร้านที่ไม่ได้จองผ่านเว็บ ช่วยขจัดปัญหาสมุดคิวหายหรือการนัดซ้อน และมีระบบจัดการสาขาและราคาได้จากส่วนกลางครับ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ด้าน Backend เราพัฒนา REST API รวมกว่า 26 Endpoints โดยมีเอกสาร Swagger UI กำกับทุกเส้นทาง ในส่วนของฐานข้อมูล PostgreSQL เราใช้ UUID และวางสคีมาอย่างรัดกุม พร้อมระบบ Transaction Lock เพื่อป้องกัน Race Condition ไม่ให้ลูกค้าสองคนจองเตียงเดียวกันในเวลาเดียวกันได้เด็ดขาดครับ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ความปลอดภัยและการเข้าถึงง่ายคือหัวใจของระบบเราครับ เรานำมาตรฐานความปลอดภัยระดับ Enterprise อย่าง Google OAuth 2.0 ร่วมกับ PKCE มาใช้ ทำให้ลูกค้าล็อกอินได้โดยไม่ต้องจำรหัสผ่าน พร้อมทั้งเตรียมระบบรองรับ LINE LIFF และ Facebook Messenger Webhook เพื่อให้ลูกค้าเข้าถึงบริการได้จากทุกแพลตฟอร์มโซเชียลมีเดียครับ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เดี๋ยวทางทีมขออนุญาตสาธิตระบบจริงครับ เริ่มจากฝั่งลูกค้ากดเลือกดูสาขาใกล้ตัวผ่าน GPS เลือกระยะเวลานวด 90 นาทีแล้วกดยืนยันการจอง จากนั้นสลับมาที่จอของพนักงานต้อนรับใน Admin Calendar จะเห็นรายการจองขึ้นมาบนปฏิทินทันที พร้อมทั้งสามารถคีย์ลูกค้าวอล์กอินได้ และระบบเบื้องหลังผ่านการทดสอบ Automated Unit Test เรียบร้อยครับ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สรุปผล Sprint 1 ทีมเราสามารถส่งมอบ Core Foundation ได้ครบตามเป้าหมาย 100% สำหรับใน Sprint 2 เราจะต่อยอดระบบ Social Commerce เต็มรูปแบบ ทั้ง LINE Flex Message และ Facebook Chatbot อัตโนมัติ เพื่อขับเคลื่อน Getthawha สู่ระบบสปาอัจฉริยะอย่างสมบูรณ์ ขอบคุณอาจารย์และคณะกรรมการทุกท่านครับ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SPRINT 1 DEMO &amp; PRESENTATION</a:t>
            </a:r>
          </a:p>
          <a:p>
            <a:pPr>
              <a:defRPr sz="3600" b="1">
                <a:solidFill>
                  <a:srgbClr val="DCA900"/>
                </a:solidFill>
              </a:defRPr>
            </a:pPr>
            <a:r>
              <a:t>Getthawha Omnichannel Platform</a:t>
            </a:r>
          </a:p>
          <a:p>
            <a:pPr>
              <a:defRPr sz="1600" i="1">
                <a:solidFill>
                  <a:srgbClr val="D2C8C3"/>
                </a:solidFill>
              </a:defRPr>
            </a:pPr>
            <a:r>
              <a:t>Transforming Chiang Mai’s Traditional Wellness into a Unified Digital Experience</a:t>
            </a:r>
          </a:p>
          <a:p>
            <a:br/>
            <a:pPr>
              <a:defRPr sz="1500" b="1">
                <a:solidFill>
                  <a:srgbClr val="F5C31E"/>
                </a:solidFill>
              </a:defRPr>
            </a:pPr>
            <a:r>
              <a:t>Core Challenges Solved in Sprint 1:</a:t>
            </a:r>
          </a:p>
          <a:p>
            <a:pPr>
              <a:defRPr sz="1300">
                <a:solidFill>
                  <a:srgbClr val="FAFAFA"/>
                </a:solidFill>
              </a:defRPr>
            </a:pPr>
            <a:r>
              <a:t>❌ Manual Scheduling Overload: แอดมินและฟร้อนท์เสียเวลาตอบโทรศัพท์/แชทกว่า 35% ต่อวัน</a:t>
            </a:r>
          </a:p>
          <a:p>
            <a:pPr>
              <a:defRPr sz="1300">
                <a:solidFill>
                  <a:srgbClr val="FAFAFA"/>
                </a:solidFill>
              </a:defRPr>
            </a:pPr>
            <a:r>
              <a:t>❌ Double-Booking Collisions: ปัญหาเตียง/ห้องซ้อนทับกันในช่วงเวลาเร่งด่วน 17:00-21:00 น.</a:t>
            </a:r>
          </a:p>
          <a:p>
            <a:pPr>
              <a:defRPr sz="1300">
                <a:solidFill>
                  <a:srgbClr val="FAFAFA"/>
                </a:solidFill>
              </a:defRPr>
            </a:pPr>
            <a:r>
              <a:t>❌ Tourist Language Barriers: อุปสรรคทางภาษาสำหรับนักท่องเที่ยวต่างชาติในเชียงใหม่</a:t>
            </a:r>
          </a:p>
          <a:p>
            <a:pPr>
              <a:defRPr sz="1300">
                <a:solidFill>
                  <a:srgbClr val="FAFAFA"/>
                </a:solidFill>
              </a:defRPr>
            </a:pPr>
            <a:r>
              <a:t>✅ The Solution: แพลตฟอร์มจองบริการ 4 ภาษา พร้อมปฏิทินกลางสำหรับ 5 สาขาแบบเรียลไทม์</a:t>
            </a:r>
          </a:p>
        </p:txBody>
      </p:sp>
      <p:pic>
        <p:nvPicPr>
          <p:cNvPr id="4" name="Picture 3" descr="Shopn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371600"/>
            <a:ext cx="3474720" cy="3474720"/>
          </a:xfrm>
          <a:prstGeom prst="rect">
            <a:avLst/>
          </a:prstGeom>
        </p:spPr>
      </p:pic>
      <p:pic>
        <p:nvPicPr>
          <p:cNvPr id="5" name="Picture 4" descr="branch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926080"/>
            <a:ext cx="3474720" cy="26066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POINT 2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2004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CA900"/>
                </a:solidFill>
              </a:defRPr>
            </a:pPr>
            <a:r>
              <a:t>Agile Methodology, RACI &amp; Notion Project Hub</a:t>
            </a:r>
          </a:p>
          <a:p>
            <a:pPr>
              <a:defRPr sz="1300">
                <a:solidFill>
                  <a:srgbClr val="D2C8C3"/>
                </a:solidFill>
              </a:defRPr>
            </a:pPr>
            <a:r>
              <a:t>การบริหารจัดการทีม การติดตาม User Stories และการกระจายความรับผิดชอบ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DC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kanok-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94360" cy="594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280160"/>
            <a:ext cx="2560320" cy="3474720"/>
          </a:xfrm>
          <a:prstGeom prst="roundRect">
            <a:avLst/>
          </a:prstGeom>
          <a:solidFill>
            <a:srgbClr val="261812"/>
          </a:solidFill>
          <a:ln>
            <a:solidFill>
              <a:srgbClr val="A07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CA900"/>
                </a:solidFill>
              </a:defRPr>
            </a:pPr>
            <a:r>
              <a:t>👑 Project Lead &amp; Architect</a:t>
            </a:r>
          </a:p>
          <a:p>
            <a:pPr>
              <a:defRPr sz="1200" i="1">
                <a:solidFill>
                  <a:srgbClr val="F59E0B"/>
                </a:solidFill>
              </a:defRPr>
            </a:pPr>
            <a:r>
              <a:t>Fullstack &amp; DevOps</a:t>
            </a:r>
          </a:p>
          <a:p>
            <a:br/>
            <a:pPr>
              <a:defRPr sz="1100">
                <a:solidFill>
                  <a:srgbClr val="FAFAFA"/>
                </a:solidFill>
              </a:defRPr>
            </a:pPr>
            <a:r>
              <a:t>• System Architecture &amp; Database Design</a:t>
            </a:r>
            <a:br/>
            <a:r>
              <a:t>• Docker Multi-Container Orchestration</a:t>
            </a:r>
            <a:br/>
            <a:r>
              <a:t>• ACID Concurrency &amp; Locks</a:t>
            </a:r>
            <a:br/>
            <a:r>
              <a:t>• Disaster Recovery &amp; CI/CD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280160"/>
            <a:ext cx="2560320" cy="3474720"/>
          </a:xfrm>
          <a:prstGeom prst="roundRect">
            <a:avLst/>
          </a:prstGeom>
          <a:solidFill>
            <a:srgbClr val="261812"/>
          </a:solidFill>
          <a:ln>
            <a:solidFill>
              <a:srgbClr val="A07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CA900"/>
                </a:solidFill>
              </a:defRPr>
            </a:pPr>
            <a:r>
              <a:t>🎨 Frontend Applications Lead</a:t>
            </a:r>
          </a:p>
          <a:p>
            <a:pPr>
              <a:defRPr sz="1200" i="1">
                <a:solidFill>
                  <a:srgbClr val="F59E0B"/>
                </a:solidFill>
              </a:defRPr>
            </a:pPr>
            <a:r>
              <a:t>Client &amp; Admin UI</a:t>
            </a:r>
          </a:p>
          <a:p>
            <a:br/>
            <a:pPr>
              <a:defRPr sz="1100">
                <a:solidFill>
                  <a:srgbClr val="FAFAFA"/>
                </a:solidFill>
              </a:defRPr>
            </a:pPr>
            <a:r>
              <a:t>• Next.js 15 Client Booking Wizard</a:t>
            </a:r>
            <a:br/>
            <a:r>
              <a:t>• Admin Master Booking Calendar</a:t>
            </a:r>
            <a:br/>
            <a:r>
              <a:t>• Quadrilingual i18n (TH/EN/ZH/KO)</a:t>
            </a:r>
            <a:br/>
            <a:r>
              <a:t>• Figma-to-Code High Fidelity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280160"/>
            <a:ext cx="2560320" cy="3474720"/>
          </a:xfrm>
          <a:prstGeom prst="roundRect">
            <a:avLst/>
          </a:prstGeom>
          <a:solidFill>
            <a:srgbClr val="261812"/>
          </a:solidFill>
          <a:ln>
            <a:solidFill>
              <a:srgbClr val="A07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CA900"/>
                </a:solidFill>
              </a:defRPr>
            </a:pPr>
            <a:r>
              <a:t>⚙️ Backend Engineering Lead</a:t>
            </a:r>
          </a:p>
          <a:p>
            <a:pPr>
              <a:defRPr sz="1200" i="1">
                <a:solidFill>
                  <a:srgbClr val="F59E0B"/>
                </a:solidFill>
              </a:defRPr>
            </a:pPr>
            <a:r>
              <a:t>API &amp; Integrations</a:t>
            </a:r>
          </a:p>
          <a:p>
            <a:br/>
            <a:pPr>
              <a:defRPr sz="1100">
                <a:solidFill>
                  <a:srgbClr val="FAFAFA"/>
                </a:solidFill>
              </a:defRPr>
            </a:pPr>
            <a:r>
              <a:t>• Express 5.1 REST Engine (Bun)</a:t>
            </a:r>
            <a:br/>
            <a:r>
              <a:t>• Google OAuth 2.0 with PKCE</a:t>
            </a:r>
            <a:br/>
            <a:r>
              <a:t>• LINE LIFF &amp; Messaging Handshake</a:t>
            </a:r>
            <a:br/>
            <a:r>
              <a:t>• Meta Facebook Webhook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280160"/>
            <a:ext cx="2560320" cy="3474720"/>
          </a:xfrm>
          <a:prstGeom prst="roundRect">
            <a:avLst/>
          </a:prstGeom>
          <a:solidFill>
            <a:srgbClr val="261812"/>
          </a:solidFill>
          <a:ln>
            <a:solidFill>
              <a:srgbClr val="A07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CA900"/>
                </a:solidFill>
              </a:defRPr>
            </a:pPr>
            <a:r>
              <a:t>🧪 QA &amp; Product Specialist</a:t>
            </a:r>
          </a:p>
          <a:p>
            <a:pPr>
              <a:defRPr sz="1200" i="1">
                <a:solidFill>
                  <a:srgbClr val="F59E0B"/>
                </a:solidFill>
              </a:defRPr>
            </a:pPr>
            <a:r>
              <a:t>Testing &amp; Governance</a:t>
            </a:r>
          </a:p>
          <a:p>
            <a:br/>
            <a:pPr>
              <a:defRPr sz="1100">
                <a:solidFill>
                  <a:srgbClr val="FAFAFA"/>
                </a:solidFill>
              </a:defRPr>
            </a:pPr>
            <a:r>
              <a:t>• Automated Test Suites (Bun test)</a:t>
            </a:r>
            <a:br/>
            <a:r>
              <a:t>• User Acceptance Testing (UAT)</a:t>
            </a:r>
            <a:br/>
            <a:r>
              <a:t>• Notion Sprint Backlog Tracking</a:t>
            </a:r>
            <a:br/>
            <a:r>
              <a:t>• Swagger / OpenAPI Documentation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60"/>
            <a:ext cx="10728655" cy="1371600"/>
          </a:xfrm>
          <a:prstGeom prst="roundRect">
            <a:avLst/>
          </a:prstGeom>
          <a:solidFill>
            <a:srgbClr val="261812"/>
          </a:solidFill>
          <a:ln>
            <a:solidFill>
              <a:srgbClr val="DC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5C31E"/>
                </a:solidFill>
              </a:defRPr>
            </a:pPr>
            <a:r>
              <a:t>📊 SPRINT 1 EXECUTION METRICS (อ้างอิงจาก NOTION PROJECT HUB):</a:t>
            </a:r>
          </a:p>
          <a:p>
            <a:pPr>
              <a:defRPr sz="1100">
                <a:solidFill>
                  <a:srgbClr val="FAFAFA"/>
                </a:solidFill>
              </a:defRPr>
            </a:pPr>
            <a:r>
              <a:t>• 18 Sprint Tasks Tracked ใน Notion Kanban Board ครอบคลุม Frontend, Backend, Database และ DevOps</a:t>
            </a:r>
            <a:br/>
            <a:r>
              <a:t>• ส่งมอบ Core Foundation เสร็จสมบูรณ์ 100% ตามแผนงาน (Database Schema, Express API, Admin Calendar, Client Booking Wizard)</a:t>
            </a:r>
            <a:br/>
            <a:r>
              <a:t>• อัตราความเร็ว Sprint Velocity และเวลาการประชุม Daily Standup เป็นไปตามข้อตกลงทีม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POINT 3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2004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CA900"/>
                </a:solidFill>
              </a:defRPr>
            </a:pPr>
            <a:r>
              <a:t>Cloud-Native Architecture &amp; Container Topology</a:t>
            </a:r>
          </a:p>
          <a:p>
            <a:pPr>
              <a:defRPr sz="1300">
                <a:solidFill>
                  <a:srgbClr val="D2C8C3"/>
                </a:solidFill>
              </a:defRPr>
            </a:pPr>
            <a:r>
              <a:t>การออกแบบสถาปัตยกรรม 4 Microservices บน Docker Compose Bridge Network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DC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kanok-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188720"/>
            <a:ext cx="53035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C31E"/>
                </a:solidFill>
              </a:defRPr>
            </a:pPr>
            <a:r>
              <a:t>สถาปัตยกรรมแบบแยกส่วน (Microservice Topology):</a:t>
            </a:r>
          </a:p>
          <a:p>
            <a:br/>
            <a:pPr>
              <a:defRPr sz="1200" b="1">
                <a:solidFill>
                  <a:srgbClr val="DCA900"/>
                </a:solidFill>
              </a:defRPr>
            </a:pPr>
            <a:r>
              <a:t>🌐 Client Frontend (Port 3000)</a:t>
            </a:r>
          </a:p>
          <a:p>
            <a:pPr>
              <a:defRPr sz="1100">
                <a:solidFill>
                  <a:srgbClr val="FAFAFA"/>
                </a:solidFill>
              </a:defRPr>
            </a:pPr>
            <a:r>
              <a:t>Next.js 15 (React 19) SSR + PWA สำหรับลูกค้า เน้น SEO และ Mobile Performance รองรับ 4 ภาษา</a:t>
            </a:r>
          </a:p>
          <a:p>
            <a:br/>
            <a:pPr>
              <a:defRPr sz="1200" b="1">
                <a:solidFill>
                  <a:srgbClr val="DCA900"/>
                </a:solidFill>
              </a:defRPr>
            </a:pPr>
            <a:r>
              <a:t>💻 Admin Portal (Port 3001)</a:t>
            </a:r>
          </a:p>
          <a:p>
            <a:pPr>
              <a:defRPr sz="1100">
                <a:solidFill>
                  <a:srgbClr val="FAFAFA"/>
                </a:solidFill>
              </a:defRPr>
            </a:pPr>
            <a:r>
              <a:t>Next.js 15 แยกพอร์ตอิสระเพื่อความปลอดภัย มี Master Calendar และระบบบันทึก Walk-in ด่วน</a:t>
            </a:r>
          </a:p>
          <a:p>
            <a:br/>
            <a:pPr>
              <a:defRPr sz="1200" b="1">
                <a:solidFill>
                  <a:srgbClr val="DCA900"/>
                </a:solidFill>
              </a:defRPr>
            </a:pPr>
            <a:r>
              <a:t>⚡ Backend Engine (Port 8000)</a:t>
            </a:r>
          </a:p>
          <a:p>
            <a:pPr>
              <a:defRPr sz="1100">
                <a:solidFill>
                  <a:srgbClr val="FAFAFA"/>
                </a:solidFill>
              </a:defRPr>
            </a:pPr>
            <a:r>
              <a:t>Express 5.1 บน Bun Runtime ให้ความเร็วสูง พร้อม 26+ RESTful Endpoints และ Swagger UI</a:t>
            </a:r>
          </a:p>
          <a:p>
            <a:br/>
            <a:pPr>
              <a:defRPr sz="1200" b="1">
                <a:solidFill>
                  <a:srgbClr val="DCA900"/>
                </a:solidFill>
              </a:defRPr>
            </a:pPr>
            <a:r>
              <a:t>🐘 PostgreSQL 15 (Port 5432)</a:t>
            </a:r>
          </a:p>
          <a:p>
            <a:pPr>
              <a:defRPr sz="1100">
                <a:solidFill>
                  <a:srgbClr val="FAFAFA"/>
                </a:solidFill>
              </a:defRPr>
            </a:pPr>
            <a:r>
              <a:t>ACID Transactions, Foreign Key Integrity, UUID Primary Keys และ Row-Level Concurrency Locks</a:t>
            </a:r>
          </a:p>
          <a:p>
            <a:br/>
            <a:pPr>
              <a:defRPr sz="1200" b="1">
                <a:solidFill>
                  <a:srgbClr val="DCA900"/>
                </a:solidFill>
              </a:defRPr>
            </a:pPr>
            <a:r>
              <a:t>🔒 Cloudflare Ingress Tunnel</a:t>
            </a:r>
          </a:p>
          <a:p>
            <a:pPr>
              <a:defRPr sz="1100">
                <a:solidFill>
                  <a:srgbClr val="FAFAFA"/>
                </a:solidFill>
              </a:defRPr>
            </a:pPr>
            <a:r>
              <a:t>ส่งต่อ External Webhook จาก Facebook/LINE เข้าเครื่อง Local โดยไม่ต้องเปิด Port Forwarding</a:t>
            </a:r>
          </a:p>
        </p:txBody>
      </p:sp>
      <p:pic>
        <p:nvPicPr>
          <p:cNvPr id="8" name="Picture 7" descr="docker_architecture_diagr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212080" cy="29090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POINT 4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2004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CA900"/>
                </a:solidFill>
              </a:defRPr>
            </a:pPr>
            <a:r>
              <a:t>Figma Design System to Code: Lanna Heritage Luxury</a:t>
            </a:r>
          </a:p>
          <a:p>
            <a:pPr>
              <a:defRPr sz="1300">
                <a:solidFill>
                  <a:srgbClr val="D2C8C3"/>
                </a:solidFill>
              </a:defRPr>
            </a:pPr>
            <a:r>
              <a:t>การถ่ายทอดงานดีไซน์อัตลักษณ์ล้านนาร่วมสมัยจาก Figma สู่โค้ด Next.js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DC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kanok-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188720"/>
            <a:ext cx="5943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 b="1">
                <a:solidFill>
                  <a:srgbClr val="F5C31E"/>
                </a:solidFill>
              </a:defRPr>
            </a:pPr>
            <a:r>
              <a:t>🎨 Design Tokens &amp; Brand Palette:</a:t>
            </a:r>
          </a:p>
          <a:p>
            <a:pPr>
              <a:defRPr sz="1100">
                <a:solidFill>
                  <a:srgbClr val="FAFAFA"/>
                </a:solidFill>
              </a:defRPr>
            </a:pPr>
            <a:r>
              <a:t>• สีน้ำตาลไม้สักทองโบราณ (#382218) เป็นสีพื้นหลังหลัก ให้ความรู้สึกสงบ อบอุ่น</a:t>
            </a:r>
            <a:br/>
            <a:r>
              <a:t>• สีทองคำล้านนาบริสุทธิ์ (#DCA900 / #E5B800) สำหรับองค์ประกอบสำคัญ</a:t>
            </a:r>
            <a:br/>
            <a:r>
              <a:t>• ลวดลายไทยประจำยาม (Kanok Motif) และลายเพชรโบราณ (Thai Diamond Tile)</a:t>
            </a:r>
          </a:p>
          <a:p>
            <a:pPr>
              <a:defRPr sz="1300" b="1">
                <a:solidFill>
                  <a:srgbClr val="F5C31E"/>
                </a:solidFill>
              </a:defRPr>
            </a:pPr>
            <a:r>
              <a:t>📱 Mobile-First PWA Implementation:</a:t>
            </a:r>
          </a:p>
          <a:p>
            <a:pPr>
              <a:defRPr sz="1100">
                <a:solidFill>
                  <a:srgbClr val="FAFAFA"/>
                </a:solidFill>
              </a:defRPr>
            </a:pPr>
            <a:r>
              <a:t>• พัฒนาเน้นสมาร์ตโฟน (360px - 430px) ให้จองได้สะดวกด้วยมือเดียว</a:t>
            </a:r>
            <a:br/>
            <a:r>
              <a:t>• ออกแบบ Bottom Navigation Bar และปุ่ม Call-to-Action ชัดเจน</a:t>
            </a:r>
          </a:p>
          <a:p>
            <a:pPr>
              <a:defRPr sz="1300" b="1">
                <a:solidFill>
                  <a:srgbClr val="F5C31E"/>
                </a:solidFill>
              </a:defRPr>
            </a:pPr>
            <a:r>
              <a:t>🌏 Quadrilingual Dynamic Typography:</a:t>
            </a:r>
          </a:p>
          <a:p>
            <a:pPr>
              <a:defRPr sz="1100">
                <a:solidFill>
                  <a:srgbClr val="FAFAFA"/>
                </a:solidFill>
              </a:defRPr>
            </a:pPr>
            <a:r>
              <a:t>• รองรับภาษาไทย (TH), อังกฤษ (EN), จีนตัวย่อ (ZH), และเกาหลี (KO)</a:t>
            </a:r>
            <a:br/>
            <a:r>
              <a:t>• ติดตั้ง Dynamic CJK Fonts ป้องกันปัญหาสระลอยหรือฟอนต์ไม่ตัดคำ</a:t>
            </a:r>
          </a:p>
          <a:p>
            <a:pPr>
              <a:defRPr sz="1300" b="1">
                <a:solidFill>
                  <a:srgbClr val="F5C31E"/>
                </a:solidFill>
              </a:defRPr>
            </a:pPr>
            <a:r>
              <a:t>🧩 High Component Reusability:</a:t>
            </a:r>
          </a:p>
          <a:p>
            <a:pPr>
              <a:defRPr sz="1100">
                <a:solidFill>
                  <a:srgbClr val="FAFAFA"/>
                </a:solidFill>
              </a:defRPr>
            </a:pPr>
            <a:r>
              <a:t>• แปลงเฟรมจาก Figma สู่ Next.js Reusable Components เช่น Duration Pills, Promo Sliders, และ Confirmation Drawers</a:t>
            </a:r>
          </a:p>
        </p:txBody>
      </p:sp>
      <p:pic>
        <p:nvPicPr>
          <p:cNvPr id="8" name="Picture 7" descr="massage-menu-po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280160"/>
            <a:ext cx="3366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POINT 5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2004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CA900"/>
                </a:solidFill>
              </a:defRPr>
            </a:pPr>
            <a:r>
              <a:t>Delivered Features: Intelligent Customer Booking Wizard</a:t>
            </a:r>
          </a:p>
          <a:p>
            <a:pPr>
              <a:defRPr sz="1300">
                <a:solidFill>
                  <a:srgbClr val="D2C8C3"/>
                </a:solidFill>
              </a:defRPr>
            </a:pPr>
            <a:r>
              <a:t>4 นวัตกรรมการสำรองเวลาบริการที่พัฒนาเสร็จสมบูรณ์ใน Sprint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DC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kanok-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94360" cy="594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280160"/>
            <a:ext cx="5257800" cy="2377440"/>
          </a:xfrm>
          <a:prstGeom prst="roundRect">
            <a:avLst/>
          </a:prstGeom>
          <a:solidFill>
            <a:srgbClr val="261812"/>
          </a:solidFill>
          <a:ln>
            <a:solidFill>
              <a:srgbClr val="A07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A900"/>
                </a:solidFill>
              </a:defRPr>
            </a:pPr>
            <a:r>
              <a:t>⏱️ Dynamic Duration Selector (60/90/120 นาที)</a:t>
            </a:r>
          </a:p>
          <a:p>
            <a:br/>
            <a:pPr>
              <a:defRPr sz="1100">
                <a:solidFill>
                  <a:srgbClr val="FAFAFA"/>
                </a:solidFill>
              </a:defRPr>
            </a:pPr>
            <a:r>
              <a:t>• สลับระยะเวลานวดได้แบบสดทันที พร้อมระบบ Real-time Price Recalculation</a:t>
            </a:r>
            <a:br/>
            <a:r>
              <a:t>• รองรับรายการนวดมาตรฐานกว่า 55 รูปแบบ เช่น นวดไทย นวดอโรมา ประคบสมุนไพร</a:t>
            </a:r>
            <a:br/>
            <a:r>
              <a:t>• ดึงข้อมูลตรงจากฐานข้อมูล PostgreSQL ผ่าน REST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80160"/>
            <a:ext cx="5257800" cy="2377440"/>
          </a:xfrm>
          <a:prstGeom prst="roundRect">
            <a:avLst/>
          </a:prstGeom>
          <a:solidFill>
            <a:srgbClr val="261812"/>
          </a:solidFill>
          <a:ln>
            <a:solidFill>
              <a:srgbClr val="A07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A900"/>
                </a:solidFill>
              </a:defRPr>
            </a:pPr>
            <a:r>
              <a:t>📍 GPS Geolocation &amp; Haversine Nearest Branch</a:t>
            </a:r>
          </a:p>
          <a:p>
            <a:br/>
            <a:pPr>
              <a:defRPr sz="1100">
                <a:solidFill>
                  <a:srgbClr val="FAFAFA"/>
                </a:solidFill>
              </a:defRPr>
            </a:pPr>
            <a:r>
              <a:t>• คำนวณพิกัดละติจูด/ลองจิจูดของผู้ใช้ผ่าน HTML5 Geolocation API อัตโนมัติ</a:t>
            </a:r>
            <a:br/>
            <a:r>
              <a:t>• ใช้สูตรคณิตศาสตร์ Haversine Formula คำนวณระยะทางจริงไปยัง 5 สาขา</a:t>
            </a:r>
            <a:br/>
            <a:r>
              <a:t>• แนะนำสาขาที่ใกล้ที่สุดให้อัตโนมัติ พร้อมปุ่มเปิด Google Maps นำทาง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79"/>
            <a:ext cx="5257800" cy="2377440"/>
          </a:xfrm>
          <a:prstGeom prst="roundRect">
            <a:avLst/>
          </a:prstGeom>
          <a:solidFill>
            <a:srgbClr val="261812"/>
          </a:solidFill>
          <a:ln>
            <a:solidFill>
              <a:srgbClr val="A07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A900"/>
                </a:solidFill>
              </a:defRPr>
            </a:pPr>
            <a:r>
              <a:t>🎟️ Homepage Promo Auto-Selection Flow</a:t>
            </a:r>
          </a:p>
          <a:p>
            <a:br/>
            <a:pPr>
              <a:defRPr sz="1100">
                <a:solidFill>
                  <a:srgbClr val="FAFAFA"/>
                </a:solidFill>
              </a:defRPr>
            </a:pPr>
            <a:r>
              <a:t>• เลือกลองโปรโมชั่นหรือแพ็กเกจพิเศษจาก Carousel หน้าแรก</a:t>
            </a:r>
            <a:br/>
            <a:r>
              <a:t>• ระบบส่งต่อไปยังหน้าจอง พร้อมล็อกแพ็กเกจและสาขาที่ร่วมรายการให้อัตโนมัติ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840479"/>
            <a:ext cx="5257800" cy="2377440"/>
          </a:xfrm>
          <a:prstGeom prst="roundRect">
            <a:avLst/>
          </a:prstGeom>
          <a:solidFill>
            <a:srgbClr val="261812"/>
          </a:solidFill>
          <a:ln>
            <a:solidFill>
              <a:srgbClr val="A07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A900"/>
                </a:solidFill>
              </a:defRPr>
            </a:pPr>
            <a:r>
              <a:t>📅 Real-Time Timeslot &amp; Capacity Protection</a:t>
            </a:r>
          </a:p>
          <a:p>
            <a:br/>
            <a:pPr>
              <a:defRPr sz="1100">
                <a:solidFill>
                  <a:srgbClr val="FAFAFA"/>
                </a:solidFill>
              </a:defRPr>
            </a:pPr>
            <a:r>
              <a:t>• เลือกรอบเวลาให้บริการตั้งแต่ 09:30 ถึง 20:00 น.</a:t>
            </a:r>
            <a:br/>
            <a:r>
              <a:t>• ตรวจสอบความพร้อมของเตียงและห้องแบบทันที ป้องกันการจองชนกัน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POINT 6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2004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CA900"/>
                </a:solidFill>
              </a:defRPr>
            </a:pPr>
            <a:r>
              <a:t>Delivered Features: Admin Operations &amp; Booking Calendar</a:t>
            </a:r>
          </a:p>
          <a:p>
            <a:pPr>
              <a:defRPr sz="1300">
                <a:solidFill>
                  <a:srgbClr val="D2C8C3"/>
                </a:solidFill>
              </a:defRPr>
            </a:pPr>
            <a:r>
              <a:t>ศูนย์ควบคุมการปฏิบัติงานสำหรับพนักงานต้อนรับหน้าร้าน (Port 3001)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DC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kanok-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94360" cy="594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280160"/>
            <a:ext cx="5257800" cy="2377440"/>
          </a:xfrm>
          <a:prstGeom prst="roundRect">
            <a:avLst/>
          </a:prstGeom>
          <a:solidFill>
            <a:srgbClr val="261812"/>
          </a:solidFill>
          <a:ln>
            <a:solidFill>
              <a:srgbClr val="A07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A900"/>
                </a:solidFill>
              </a:defRPr>
            </a:pPr>
            <a:r>
              <a:t>🗓️ Master Booking Calendar (Daily &amp; Monthly Grid)</a:t>
            </a:r>
          </a:p>
          <a:p>
            <a:br/>
            <a:pPr>
              <a:defRPr sz="1100">
                <a:solidFill>
                  <a:srgbClr val="FAFAFA"/>
                </a:solidFill>
              </a:defRPr>
            </a:pPr>
            <a:r>
              <a:t>• แสดงความหนาแน่นของการจองทั้ง 5 สาขาในมุมมองปฏิทินรายเดือน</a:t>
            </a:r>
            <a:br/>
            <a:r>
              <a:t>• แยกดูตารางเวลารายวัน แสดงสถานะคิว ห้องว่าง และรอบเวลาที่กำลังให้บริการ</a:t>
            </a:r>
            <a:br/>
            <a:r>
              <a:t>• อัปเดตข้อมูลแบบเรียลไทม์เมื่อมีการจองใหม่เข้ามา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80160"/>
            <a:ext cx="5257800" cy="2377440"/>
          </a:xfrm>
          <a:prstGeom prst="roundRect">
            <a:avLst/>
          </a:prstGeom>
          <a:solidFill>
            <a:srgbClr val="261812"/>
          </a:solidFill>
          <a:ln>
            <a:solidFill>
              <a:srgbClr val="A07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A900"/>
                </a:solidFill>
              </a:defRPr>
            </a:pPr>
            <a:r>
              <a:t>🚶 Front-Desk Walk-in &amp; Phone Reservation Modal</a:t>
            </a:r>
          </a:p>
          <a:p>
            <a:br/>
            <a:pPr>
              <a:defRPr sz="1100">
                <a:solidFill>
                  <a:srgbClr val="FAFAFA"/>
                </a:solidFill>
              </a:defRPr>
            </a:pPr>
            <a:r>
              <a:t>• ฟอร์มจองด่วนสำหรับลูกค้าที่เดินเข้ามาหน้าร้านหรือโทรศัพท์มาจอง</a:t>
            </a:r>
            <a:br/>
            <a:r>
              <a:t>• พนักงานเลือกสาขา บริการ และเวลา พร้อมตัดสต็อกห้องทันทีใน 30 วินาที</a:t>
            </a:r>
            <a:br/>
            <a:r>
              <a:t>• ขจัดปัญหาสมุดคิวหายหรือการลงคิวซ้ำซ้อน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79"/>
            <a:ext cx="5257800" cy="2377440"/>
          </a:xfrm>
          <a:prstGeom prst="roundRect">
            <a:avLst/>
          </a:prstGeom>
          <a:solidFill>
            <a:srgbClr val="261812"/>
          </a:solidFill>
          <a:ln>
            <a:solidFill>
              <a:srgbClr val="A07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A900"/>
                </a:solidFill>
              </a:defRPr>
            </a:pPr>
            <a:r>
              <a:t>📦 Master Data Management (Full CRUD Operations)</a:t>
            </a:r>
          </a:p>
          <a:p>
            <a:br/>
            <a:pPr>
              <a:defRPr sz="1100">
                <a:solidFill>
                  <a:srgbClr val="FAFAFA"/>
                </a:solidFill>
              </a:defRPr>
            </a:pPr>
            <a:r>
              <a:t>• จัดการข้อมูลสาขา (Branch): ที่อยู่ พิกัด GPS เบอร์โทรศัพท์ และจำนวนเตียง</a:t>
            </a:r>
            <a:br/>
            <a:r>
              <a:t>• จัดการแพ็กเกจ (Package): เพิ่ม/แก้ไขราคาและระยะเวลา 60/90/120 นาที</a:t>
            </a:r>
            <a:br/>
            <a:r>
              <a:t>• จัดการโปรโมชั่นและรหัสเวาเชอร์ส่วนลด (Voucher Management)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840479"/>
            <a:ext cx="5257800" cy="2377440"/>
          </a:xfrm>
          <a:prstGeom prst="roundRect">
            <a:avLst/>
          </a:prstGeom>
          <a:solidFill>
            <a:srgbClr val="261812"/>
          </a:solidFill>
          <a:ln>
            <a:solidFill>
              <a:srgbClr val="A07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A900"/>
                </a:solidFill>
              </a:defRPr>
            </a:pPr>
            <a:r>
              <a:t>⭐ Customer Testimonial &amp; Review Moderation</a:t>
            </a:r>
          </a:p>
          <a:p>
            <a:br/>
            <a:pPr>
              <a:defRPr sz="1100">
                <a:solidFill>
                  <a:srgbClr val="FAFAFA"/>
                </a:solidFill>
              </a:defRPr>
            </a:pPr>
            <a:r>
              <a:t>• หน้าต่างคัดกรองรีวิวและความคิดเห็นจากลูกค้าก่อนนำขึ้นหน้าเว็บ</a:t>
            </a:r>
            <a:br/>
            <a:r>
              <a:t>• มีปุ่ม Approve / Reject เพื่อรักษาภาพลักษณ์ที่ดีของแบรนด์สปา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POINT 7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2004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CA900"/>
                </a:solidFill>
              </a:defRPr>
            </a:pPr>
            <a:r>
              <a:t>Backend Architecture, 26+ APIs &amp; Relational ERD</a:t>
            </a:r>
          </a:p>
          <a:p>
            <a:pPr>
              <a:defRPr sz="1300">
                <a:solidFill>
                  <a:srgbClr val="D2C8C3"/>
                </a:solidFill>
              </a:defRPr>
            </a:pPr>
            <a:r>
              <a:t>การออกแบบฐานข้อมูลเชิงสัมพันธ์และสัญญาสื่อสาร RESTful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DC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kanok-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94360" cy="594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280160"/>
            <a:ext cx="5257800" cy="5029200"/>
          </a:xfrm>
          <a:prstGeom prst="roundRect">
            <a:avLst/>
          </a:prstGeom>
          <a:solidFill>
            <a:srgbClr val="261812"/>
          </a:solidFill>
          <a:ln>
            <a:solidFill>
              <a:srgbClr val="A07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A900"/>
                </a:solidFill>
              </a:defRPr>
            </a:pPr>
            <a:r>
              <a:t>🐘 Relational Database Design (PostgreSQL 15):</a:t>
            </a:r>
          </a:p>
          <a:p>
            <a:br/>
            <a:pPr>
              <a:defRPr sz="1100">
                <a:solidFill>
                  <a:srgbClr val="FAFAFA"/>
                </a:solidFill>
              </a:defRPr>
            </a:pPr>
            <a:r>
              <a:t>• Core Entities:</a:t>
            </a:r>
            <a:br/>
            <a:r>
              <a:t>  - Users (ลูกค้าทั่วไป, สิทธิประโยชน์, ประวัติ)</a:t>
            </a:r>
            <a:br/>
            <a:r>
              <a:t>  - UserStaff (สตาฟฟ์หน้าร้าน, แอดมินผู้ดูแลระบบ)</a:t>
            </a:r>
            <a:br/>
            <a:r>
              <a:t>  - Branches (5 สาขา: ข้อมูลพิกัด, ความจุเตียง)</a:t>
            </a:r>
            <a:br/>
            <a:r>
              <a:t>  - Packages (55 รายการบริการ, ราคาแต่ละช่วงเวลา)</a:t>
            </a:r>
            <a:br/>
            <a:r>
              <a:t>  - Bookings (ข้อมูลการจอง, วันที่, สถานะ, ช่องทาง)</a:t>
            </a:r>
            <a:br/>
            <a:r>
              <a:t>  - Vouchers (โค้ดส่วนลด, วันหมดอายุ, ขีดจำกัด)</a:t>
            </a:r>
            <a:br/>
            <a:r>
              <a:t>  - Reviews (คะแนนดาว, ความคิดเห็น, สถานะอนุมัติ)</a:t>
            </a:r>
            <a:br/>
            <a:br/>
            <a:r>
              <a:t>• Security &amp; ACID Compliance:</a:t>
            </a:r>
            <a:br/>
            <a:r>
              <a:t>  - คีย์หลักแบบ UUIDv4 ป้องกันการแฮกเดา ID</a:t>
            </a:r>
            <a:br/>
            <a:r>
              <a:t>  - Concurrency Lock ป้องกันการจองห้องซ้ำ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80160"/>
            <a:ext cx="5257800" cy="5029200"/>
          </a:xfrm>
          <a:prstGeom prst="roundRect">
            <a:avLst/>
          </a:prstGeom>
          <a:solidFill>
            <a:srgbClr val="261812"/>
          </a:solidFill>
          <a:ln>
            <a:solidFill>
              <a:srgbClr val="A07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A900"/>
                </a:solidFill>
              </a:defRPr>
            </a:pPr>
            <a:r>
              <a:t>⚡ RESTful API Engine (Express 5 + Bun):</a:t>
            </a:r>
          </a:p>
          <a:p>
            <a:br/>
            <a:pPr>
              <a:defRPr sz="1100">
                <a:solidFill>
                  <a:srgbClr val="FAFAFA"/>
                </a:solidFill>
              </a:defRPr>
            </a:pPr>
            <a:r>
              <a:t>• 26+ Production RESTful Endpoints:</a:t>
            </a:r>
            <a:br/>
            <a:r>
              <a:t>  - /booking, /booking/my, /admin/booking</a:t>
            </a:r>
            <a:br/>
            <a:r>
              <a:t>  - /admin/calendar/:year/:month</a:t>
            </a:r>
            <a:br/>
            <a:r>
              <a:t>  - /voucher/verify, /admin/voucher</a:t>
            </a:r>
            <a:br/>
            <a:r>
              <a:t>  - /branch, /admin/branch (CRUD)</a:t>
            </a:r>
            <a:br/>
            <a:r>
              <a:t>  - /package, /admin/package (CRUD)</a:t>
            </a:r>
            <a:br/>
            <a:r>
              <a:t>  - /google/authorization &amp; /line/authorization</a:t>
            </a:r>
            <a:br/>
            <a:r>
              <a:t>  - /facebook/webhook (GET &amp; POST)</a:t>
            </a:r>
            <a:br/>
            <a:br/>
            <a:r>
              <a:t>• OpenAPI 3.0 / Swagger UI Setup:</a:t>
            </a:r>
            <a:br/>
            <a:r>
              <a:t>  - เอกสารประกอบ API ครบถ้วนทดสอบสดได้ที่ /api-docs</a:t>
            </a:r>
            <a:br/>
            <a:r>
              <a:t>  - ตรวจสอบ Request Payload Validation อย่างเคร่งครัด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POINT 8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2004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CA900"/>
                </a:solidFill>
              </a:defRPr>
            </a:pPr>
            <a:r>
              <a:t>Enterprise Security &amp; Omnichannel Integrations</a:t>
            </a:r>
          </a:p>
          <a:p>
            <a:pPr>
              <a:defRPr sz="1300">
                <a:solidFill>
                  <a:srgbClr val="D2C8C3"/>
                </a:solidFill>
              </a:defRPr>
            </a:pPr>
            <a:r>
              <a:t>มาตรฐานความปลอดภัยระดับสากลและการเชื่อมต่อ Ecosystem ภายนอก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DC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kanok-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94360" cy="594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280160"/>
            <a:ext cx="3474720" cy="5029200"/>
          </a:xfrm>
          <a:prstGeom prst="roundRect">
            <a:avLst/>
          </a:prstGeom>
          <a:solidFill>
            <a:srgbClr val="261812"/>
          </a:solidFill>
          <a:ln>
            <a:solidFill>
              <a:srgbClr val="A07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A900"/>
                </a:solidFill>
              </a:defRPr>
            </a:pPr>
            <a:r>
              <a:t>🔐 Google OAuth 2.0 with PKCE Flow</a:t>
            </a:r>
          </a:p>
          <a:p>
            <a:br/>
            <a:pPr>
              <a:defRPr sz="1100">
                <a:solidFill>
                  <a:srgbClr val="FAFAFA"/>
                </a:solidFill>
              </a:defRPr>
            </a:pPr>
            <a:r>
              <a:t>• มาตรฐานความปลอดภัย RFC 7636 ป้องกันการดักจับ Auth Code</a:t>
            </a:r>
            <a:br/>
            <a:r>
              <a:t>• ใช้ Code Verifier และ SHA-256 Code Challenge ในการแลกเปลี่ยน Token</a:t>
            </a:r>
            <a:br/>
            <a:r>
              <a:t>• ป้องกันการโจมตีแบบ CSRF ด้วย State Parameter</a:t>
            </a:r>
            <a:br/>
            <a:r>
              <a:t>• ออก JWT Session จัดเก็บใน Secure HttpOnly Cookie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80160"/>
            <a:ext cx="3474720" cy="5029200"/>
          </a:xfrm>
          <a:prstGeom prst="roundRect">
            <a:avLst/>
          </a:prstGeom>
          <a:solidFill>
            <a:srgbClr val="261812"/>
          </a:solidFill>
          <a:ln>
            <a:solidFill>
              <a:srgbClr val="A07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A900"/>
                </a:solidFill>
              </a:defRPr>
            </a:pPr>
            <a:r>
              <a:t>💬 LINE Official Account &amp; LIFF Ready</a:t>
            </a:r>
          </a:p>
          <a:p>
            <a:br/>
            <a:pPr>
              <a:defRPr sz="1100">
                <a:solidFill>
                  <a:srgbClr val="FAFAFA"/>
                </a:solidFill>
              </a:defRPr>
            </a:pPr>
            <a:r>
              <a:t>• สถาปัตยกรรมรองรับ LINE Login 2.1</a:t>
            </a:r>
            <a:br/>
            <a:r>
              <a:t>• รองรับการเปิดหน้าจองสปาแบบ Seamless ผ่าน LINE In-App Webview (LIFF)</a:t>
            </a:r>
            <a:br/>
            <a:r>
              <a:t>• เก็บค่า LINE User ID สำหรับเตรียมส่งข้อความแจ้งเตือนอัตโนมัติ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280160"/>
            <a:ext cx="3474720" cy="5029200"/>
          </a:xfrm>
          <a:prstGeom prst="roundRect">
            <a:avLst/>
          </a:prstGeom>
          <a:solidFill>
            <a:srgbClr val="261812"/>
          </a:solidFill>
          <a:ln>
            <a:solidFill>
              <a:srgbClr val="A07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A900"/>
                </a:solidFill>
              </a:defRPr>
            </a:pPr>
            <a:r>
              <a:t>🤖 Meta Facebook Messenger Webhook</a:t>
            </a:r>
          </a:p>
          <a:p>
            <a:br/>
            <a:pPr>
              <a:defRPr sz="1100">
                <a:solidFill>
                  <a:srgbClr val="FAFAFA"/>
                </a:solidFill>
              </a:defRPr>
            </a:pPr>
            <a:r>
              <a:t>• พัฒนาระบบ Handshake Verification ตรวจสอบ Token กับเซิร์ฟเวอร์ Meta</a:t>
            </a:r>
            <a:br/>
            <a:r>
              <a:t>• ออกแบบสถาปัตยกรรมตอบกลับข้อความอัตโนมัติเพื่อส่งลิงก์การจอง</a:t>
            </a:r>
            <a:br/>
            <a:r>
              <a:t>• มีสคริปต์อัตโนมัติ check-facebook-bot.ps1 สำหรับทดสอบ Handshake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POINT 9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2004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CA900"/>
                </a:solidFill>
              </a:defRPr>
            </a:pPr>
            <a:r>
              <a:t>Sprint 1 Live Demonstration &amp; Quality Verification</a:t>
            </a:r>
          </a:p>
          <a:p>
            <a:pPr>
              <a:defRPr sz="1300">
                <a:solidFill>
                  <a:srgbClr val="D2C8C3"/>
                </a:solidFill>
              </a:defRPr>
            </a:pPr>
            <a:r>
              <a:t>ลำดับขั้นตอนการสาธิตระบบสดและการยืนยันคุณภาพด้วย Automated Tests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DC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kanok-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94360" cy="594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280160"/>
            <a:ext cx="6217920" cy="5029200"/>
          </a:xfrm>
          <a:prstGeom prst="roundRect">
            <a:avLst/>
          </a:prstGeom>
          <a:solidFill>
            <a:srgbClr val="261812"/>
          </a:solidFill>
          <a:ln>
            <a:solidFill>
              <a:srgbClr val="A07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A900"/>
                </a:solidFill>
              </a:defRPr>
            </a:pPr>
            <a:r>
              <a:t>🎬 แผนการสาธิตระบบสด (Live Demo Script — 2-3 นาที):</a:t>
            </a:r>
          </a:p>
          <a:p>
            <a:br/>
            <a:pPr>
              <a:defRPr sz="1100">
                <a:solidFill>
                  <a:srgbClr val="FAFAFA"/>
                </a:solidFill>
              </a:defRPr>
            </a:pPr>
            <a:r>
              <a:t>1. 👤 Customer Experience Flow (localhost:3000):</a:t>
            </a:r>
            <a:br/>
            <a:r>
              <a:t>   • ลูกค้าเข้าหน้าแรก กดดูสาขาใกล้ฉันผ่าน Geolocation</a:t>
            </a:r>
            <a:br/>
            <a:r>
              <a:t>   • เลือกแพ็กเกจนวดแผนไทย สลับระยะเวลา 60 -&gt; 90 นาที</a:t>
            </a:r>
            <a:br/>
            <a:r>
              <a:t>   • เลือกรอบเวลาและกดยืนยันการจอง ได้รับ Booking ID</a:t>
            </a:r>
            <a:br/>
            <a:br/>
            <a:r>
              <a:t>2. 🏢 Front-Desk Reception Flow (localhost:3001):</a:t>
            </a:r>
            <a:br/>
            <a:r>
              <a:t>   • เข้าสู่ระบบแอดมินด้วยบัญชีสตาฟฟ์</a:t>
            </a:r>
            <a:br/>
            <a:r>
              <a:t>   • เปิด Master Calendar พบรายการจองของลูกค้าปรากฏทันที</a:t>
            </a:r>
            <a:br/>
            <a:r>
              <a:t>   • สาธิตการกด 'Walk-in Booking' เพื่อจองคิวด่วนหน้าร้าน</a:t>
            </a:r>
            <a:br/>
            <a:br/>
            <a:r>
              <a:t>3. ⚡ Synchronization Verification:</a:t>
            </a:r>
            <a:br/>
            <a:r>
              <a:t>   • แสดงการตัดสต็อกห้องและอัปเดตสถานะแบบ Real-time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280160"/>
            <a:ext cx="4297680" cy="5029200"/>
          </a:xfrm>
          <a:prstGeom prst="roundRect">
            <a:avLst/>
          </a:prstGeom>
          <a:solidFill>
            <a:srgbClr val="261812"/>
          </a:solidFill>
          <a:ln>
            <a:solidFill>
              <a:srgbClr val="DC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C31E"/>
                </a:solidFill>
              </a:defRPr>
            </a:pPr>
            <a:r>
              <a:t>🧪 ผลการทดสอบอัตโนมัติ (Automated Tests):</a:t>
            </a:r>
          </a:p>
          <a:p>
            <a:br/>
            <a:pPr>
              <a:defRPr sz="1100">
                <a:solidFill>
                  <a:srgbClr val="FAFAFA"/>
                </a:solidFill>
              </a:defRPr>
            </a:pPr>
            <a:r>
              <a:t>• Test Engine: Bun Test v1.3</a:t>
            </a:r>
            <a:br/>
            <a:r>
              <a:t>• Passed: 22+ Test Cases ครอบคลุม:</a:t>
            </a:r>
            <a:br/>
            <a:r>
              <a:t>  ✅ Booking Concurrency Sync</a:t>
            </a:r>
            <a:br/>
            <a:r>
              <a:t>  ✅ Expired Voucher Clamping</a:t>
            </a:r>
            <a:br/>
            <a:r>
              <a:t>  ✅ Historical Price Preservation</a:t>
            </a:r>
            <a:br/>
            <a:r>
              <a:t>  ✅ Google OAuth PKCE Security</a:t>
            </a:r>
            <a:br/>
            <a:r>
              <a:t>  ✅ Redirect Destination Validation</a:t>
            </a:r>
            <a:br/>
            <a:br/>
            <a:r>
              <a:t>• ผลลัพธ์: การันตีความถูกต้องของธุรกรรมการจองและป้องกันการโกงส่วนลด 100%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POINT 10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2004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CA900"/>
                </a:solidFill>
              </a:defRPr>
            </a:pPr>
            <a:r>
              <a:t>Sprint 1 Retrospective &amp; Sprint 2 Strategic Roadmap</a:t>
            </a:r>
          </a:p>
          <a:p>
            <a:pPr>
              <a:defRPr sz="1300">
                <a:solidFill>
                  <a:srgbClr val="D2C8C3"/>
                </a:solidFill>
              </a:defRPr>
            </a:pPr>
            <a:r>
              <a:t>การประเมินผลลัพธ์ บทเรียนที่ได้ และแผนงานในสปรินต์ถัดไป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DC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kanok-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94360" cy="594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280160"/>
            <a:ext cx="5257800" cy="5029200"/>
          </a:xfrm>
          <a:prstGeom prst="roundRect">
            <a:avLst/>
          </a:prstGeom>
          <a:solidFill>
            <a:srgbClr val="261812"/>
          </a:solidFill>
          <a:ln>
            <a:solidFill>
              <a:srgbClr val="A07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A900"/>
                </a:solidFill>
              </a:defRPr>
            </a:pPr>
            <a:r>
              <a:t>🔄 Sprint 1 Retrospective:</a:t>
            </a:r>
          </a:p>
          <a:p>
            <a:br/>
            <a:pPr>
              <a:defRPr sz="1100">
                <a:solidFill>
                  <a:srgbClr val="FAFAFA"/>
                </a:solidFill>
              </a:defRPr>
            </a:pPr>
            <a:r>
              <a:t>🌟 What Went Well (จุดแข็งที่ทำได้ดี):</a:t>
            </a:r>
            <a:br/>
            <a:r>
              <a:t>• การแยก 4 Docker Containers ชัดเจนทำให้ทีม Frontend และ Backend พัฒนาไปพร้อมกันได้รวดเร็ว</a:t>
            </a:r>
            <a:br/>
            <a:r>
              <a:t>• Tailwind CSS v4 และ Figma Tokens ช่วยให้หน้าเว็บตรงตามแบบ Mockup 100%</a:t>
            </a:r>
            <a:br/>
            <a:r>
              <a:t>• จัดการคิวงานและ User Stories ใน Notion ได้อย่างเป็นระเบียบ</a:t>
            </a:r>
            <a:br/>
            <a:br/>
            <a:r>
              <a:t>💡 Challenges Overcome (อุปสรรคและวิธีแก้):</a:t>
            </a:r>
            <a:br/>
            <a:r>
              <a:t>• แก้ปัญหา Next.js SSR เรียกข้าม Docker Container ด้วย Dynamic Base URL Resolver</a:t>
            </a:r>
            <a:br/>
            <a:r>
              <a:t>• แก้ปัญหา Cookie Domain แตกต่างกันระหว่าง localhost และ production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80160"/>
            <a:ext cx="5257800" cy="5029200"/>
          </a:xfrm>
          <a:prstGeom prst="roundRect">
            <a:avLst/>
          </a:prstGeom>
          <a:solidFill>
            <a:srgbClr val="261812"/>
          </a:solidFill>
          <a:ln>
            <a:solidFill>
              <a:srgbClr val="DC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C31E"/>
                </a:solidFill>
              </a:defRPr>
            </a:pPr>
            <a:r>
              <a:t>🚀 Sprint 2 Strategic Roadmap:</a:t>
            </a:r>
          </a:p>
          <a:p>
            <a:br/>
            <a:pPr>
              <a:defRPr sz="1100">
                <a:solidFill>
                  <a:srgbClr val="FAFAFA"/>
                </a:solidFill>
              </a:defRPr>
            </a:pPr>
            <a:r>
              <a:t>🎯 แผนงานหลักใน Sprint 2 (Omnichannel Commerce):</a:t>
            </a:r>
            <a:br/>
            <a:br/>
            <a:r>
              <a:t>1. 💬 LINE Flex Messages:</a:t>
            </a:r>
            <a:br/>
            <a:r>
              <a:t>   • ส่งการ์ดยืนยันการจองและแจ้งเตือนคิวก่อนถึงเวลานัดหมาย</a:t>
            </a:r>
            <a:br/>
            <a:br/>
            <a:r>
              <a:t>2. 🤖 Conversational AI Chatbot:</a:t>
            </a:r>
            <a:br/>
            <a:r>
              <a:t>   • แชตบอตบน Facebook Messenger ตอบคำถามเมนูและส่งลิงก์จอง</a:t>
            </a:r>
            <a:br/>
            <a:br/>
            <a:r>
              <a:t>3. 💳 Online Payment &amp; Deposit System:</a:t>
            </a:r>
            <a:br/>
            <a:r>
              <a:t>   • ชำระเงินมัดจำออนไลน์เพื่อลดปัญหานัดแล้วไม่มา (No-show)</a:t>
            </a:r>
            <a:br/>
            <a:br/>
            <a:r>
              <a:t>4. 📊 Executive Analytics Dashboard:</a:t>
            </a:r>
            <a:br/>
            <a:r>
              <a:t>   • กราฟสถิตินักท่องเที่ยวรายสัญชาติ และยอดจองแยกตามสาขา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